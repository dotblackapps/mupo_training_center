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b5b9c79ea0401d" /><Relationship Type="http://schemas.openxmlformats.org/officeDocument/2006/relationships/extended-properties" Target="/docProps/app.xml" Id="R4401497389494d18" /><Relationship Type="http://schemas.openxmlformats.org/officeDocument/2006/relationships/officeDocument" Target="/ppt/presentation.xml" Id="R9425ec68a98a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10b2567b0341a9"/>
  </p:sldMasterIdLst>
  <p:notesMasterIdLst>
    <p:notesMasterId xmlns:r="http://schemas.openxmlformats.org/officeDocument/2006/relationships" r:id="Rf8ba683e0d614b78"/>
  </p:notesMasterIdLst>
  <p:sldIdLst>
    <p:sldId xmlns:r="http://schemas.openxmlformats.org/officeDocument/2006/relationships" id="256" r:id="R15c50a27c0ee4ce1"/>
    <p:sldId xmlns:r="http://schemas.openxmlformats.org/officeDocument/2006/relationships" id="257" r:id="R45e99d3d19424fc6"/>
    <p:sldId xmlns:r="http://schemas.openxmlformats.org/officeDocument/2006/relationships" id="258" r:id="Rfff0240d0f574b84"/>
    <p:sldId xmlns:r="http://schemas.openxmlformats.org/officeDocument/2006/relationships" id="259" r:id="R67fd1bc1a5b94b97"/>
    <p:sldId xmlns:r="http://schemas.openxmlformats.org/officeDocument/2006/relationships" id="260" r:id="R1fe17df4e77049ed"/>
    <p:sldId xmlns:r="http://schemas.openxmlformats.org/officeDocument/2006/relationships" id="261" r:id="R2b5ad933fe204120"/>
    <p:sldId xmlns:r="http://schemas.openxmlformats.org/officeDocument/2006/relationships" id="262" r:id="R454709aea0d44796"/>
    <p:sldId xmlns:r="http://schemas.openxmlformats.org/officeDocument/2006/relationships" id="263" r:id="R2c66d04b32344f40"/>
    <p:sldId xmlns:r="http://schemas.openxmlformats.org/officeDocument/2006/relationships" id="264" r:id="Ra7012c7e2482429a"/>
    <p:sldId xmlns:r="http://schemas.openxmlformats.org/officeDocument/2006/relationships" id="265" r:id="R7c201beedbe94842"/>
    <p:sldId xmlns:r="http://schemas.openxmlformats.org/officeDocument/2006/relationships" id="266" r:id="R70f60dfcfc8b43f6"/>
    <p:sldId xmlns:r="http://schemas.openxmlformats.org/officeDocument/2006/relationships" id="267" r:id="Ra08f517f6dd24e1b"/>
    <p:sldId xmlns:r="http://schemas.openxmlformats.org/officeDocument/2006/relationships" id="268" r:id="R69d801dc086f43e4"/>
    <p:sldId xmlns:r="http://schemas.openxmlformats.org/officeDocument/2006/relationships" id="269" r:id="R519c9135616343a8"/>
    <p:sldId xmlns:r="http://schemas.openxmlformats.org/officeDocument/2006/relationships" id="270" r:id="R197f7fbf1f034e29"/>
    <p:sldId xmlns:r="http://schemas.openxmlformats.org/officeDocument/2006/relationships" id="271" r:id="R182c2f640854469a"/>
    <p:sldId xmlns:r="http://schemas.openxmlformats.org/officeDocument/2006/relationships" id="272" r:id="R135435abde9c4865"/>
    <p:sldId xmlns:r="http://schemas.openxmlformats.org/officeDocument/2006/relationships" id="273" r:id="Re1a296ded1d1466f"/>
    <p:sldId xmlns:r="http://schemas.openxmlformats.org/officeDocument/2006/relationships" id="274" r:id="R33a6e0c480b74d5c"/>
    <p:sldId xmlns:r="http://schemas.openxmlformats.org/officeDocument/2006/relationships" id="275" r:id="R573349f2902f4f4e"/>
    <p:sldId xmlns:r="http://schemas.openxmlformats.org/officeDocument/2006/relationships" id="276" r:id="Rfd96899485c1410c"/>
    <p:sldId xmlns:r="http://schemas.openxmlformats.org/officeDocument/2006/relationships" id="277" r:id="Ra1bcc0f45d9e4f99"/>
    <p:sldId xmlns:r="http://schemas.openxmlformats.org/officeDocument/2006/relationships" id="278" r:id="R0c9a140032d04a76"/>
    <p:sldId xmlns:r="http://schemas.openxmlformats.org/officeDocument/2006/relationships" id="279" r:id="R6c6314082a24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999b191e4408f" /><Relationship Type="http://schemas.openxmlformats.org/officeDocument/2006/relationships/slideMaster" Target="/ppt/slideMasters/slideMaster1.xml" Id="Rcf10b2567b0341a9" /><Relationship Type="http://schemas.openxmlformats.org/officeDocument/2006/relationships/notesMaster" Target="/ppt/notesMasters/notesMaster1.xml" Id="Rf8ba683e0d614b78" /><Relationship Type="http://schemas.openxmlformats.org/officeDocument/2006/relationships/presProps" Target="/ppt/presProps.xml" Id="R2b5a4fa9c86c44dc" /><Relationship Type="http://schemas.openxmlformats.org/officeDocument/2006/relationships/tableStyles" Target="/ppt/tableStyles.xml" Id="R15915b1b7c9f4817" /><Relationship Type="http://schemas.openxmlformats.org/officeDocument/2006/relationships/slide" Target="/ppt/slides/slide1.xml" Id="R15c50a27c0ee4ce1" /><Relationship Type="http://schemas.openxmlformats.org/officeDocument/2006/relationships/slide" Target="/ppt/slides/slide2.xml" Id="R45e99d3d19424fc6" /><Relationship Type="http://schemas.openxmlformats.org/officeDocument/2006/relationships/slide" Target="/ppt/slides/slide3.xml" Id="Rfff0240d0f574b84" /><Relationship Type="http://schemas.openxmlformats.org/officeDocument/2006/relationships/slide" Target="/ppt/slides/slide4.xml" Id="R67fd1bc1a5b94b97" /><Relationship Type="http://schemas.openxmlformats.org/officeDocument/2006/relationships/slide" Target="/ppt/slides/slide5.xml" Id="R1fe17df4e77049ed" /><Relationship Type="http://schemas.openxmlformats.org/officeDocument/2006/relationships/slide" Target="/ppt/slides/slide6.xml" Id="R2b5ad933fe204120" /><Relationship Type="http://schemas.openxmlformats.org/officeDocument/2006/relationships/slide" Target="/ppt/slides/slide7.xml" Id="R454709aea0d44796" /><Relationship Type="http://schemas.openxmlformats.org/officeDocument/2006/relationships/slide" Target="/ppt/slides/slide8.xml" Id="R2c66d04b32344f40" /><Relationship Type="http://schemas.openxmlformats.org/officeDocument/2006/relationships/slide" Target="/ppt/slides/slide9.xml" Id="Ra7012c7e2482429a" /><Relationship Type="http://schemas.openxmlformats.org/officeDocument/2006/relationships/slide" Target="/ppt/slides/slide10.xml" Id="R7c201beedbe94842" /><Relationship Type="http://schemas.openxmlformats.org/officeDocument/2006/relationships/slide" Target="/ppt/slides/slide11.xml" Id="R70f60dfcfc8b43f6" /><Relationship Type="http://schemas.openxmlformats.org/officeDocument/2006/relationships/slide" Target="/ppt/slides/slide12.xml" Id="Ra08f517f6dd24e1b" /><Relationship Type="http://schemas.openxmlformats.org/officeDocument/2006/relationships/slide" Target="/ppt/slides/slide13.xml" Id="R69d801dc086f43e4" /><Relationship Type="http://schemas.openxmlformats.org/officeDocument/2006/relationships/slide" Target="/ppt/slides/slide14.xml" Id="R519c9135616343a8" /><Relationship Type="http://schemas.openxmlformats.org/officeDocument/2006/relationships/slide" Target="/ppt/slides/slide15.xml" Id="R197f7fbf1f034e29" /><Relationship Type="http://schemas.openxmlformats.org/officeDocument/2006/relationships/slide" Target="/ppt/slides/slide16.xml" Id="R182c2f640854469a" /><Relationship Type="http://schemas.openxmlformats.org/officeDocument/2006/relationships/slide" Target="/ppt/slides/slide17.xml" Id="R135435abde9c4865" /><Relationship Type="http://schemas.openxmlformats.org/officeDocument/2006/relationships/slide" Target="/ppt/slides/slide18.xml" Id="Re1a296ded1d1466f" /><Relationship Type="http://schemas.openxmlformats.org/officeDocument/2006/relationships/slide" Target="/ppt/slides/slide19.xml" Id="R33a6e0c480b74d5c" /><Relationship Type="http://schemas.openxmlformats.org/officeDocument/2006/relationships/slide" Target="/ppt/slides/slide20.xml" Id="R573349f2902f4f4e" /><Relationship Type="http://schemas.openxmlformats.org/officeDocument/2006/relationships/slide" Target="/ppt/slides/slide21.xml" Id="Rfd96899485c1410c" /><Relationship Type="http://schemas.openxmlformats.org/officeDocument/2006/relationships/slide" Target="/ppt/slides/slide22.xml" Id="Ra1bcc0f45d9e4f99" /><Relationship Type="http://schemas.openxmlformats.org/officeDocument/2006/relationships/slide" Target="/ppt/slides/slide23.xml" Id="R0c9a140032d04a76" /><Relationship Type="http://schemas.openxmlformats.org/officeDocument/2006/relationships/slide" Target="/ppt/slides/slide24.xml" Id="R6c6314082a24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29e29daa2249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88f07a92784f66" /><Relationship Type="http://schemas.openxmlformats.org/officeDocument/2006/relationships/notesMaster" Target="/ppt/notesMasters/notesMaster1.xml" Id="Ra2655dd130e2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0cf240170f4f73" /><Relationship Type="http://schemas.openxmlformats.org/officeDocument/2006/relationships/notesMaster" Target="/ppt/notesMasters/notesMaster1.xml" Id="R998adc9eb4a744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bdc53509cd41a6" /><Relationship Type="http://schemas.openxmlformats.org/officeDocument/2006/relationships/notesMaster" Target="/ppt/notesMasters/notesMaster1.xml" Id="R500d7bbc82f64c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c5c2bb94d64c8d" /><Relationship Type="http://schemas.openxmlformats.org/officeDocument/2006/relationships/notesMaster" Target="/ppt/notesMasters/notesMaster1.xml" Id="R76b92729404f47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f4cf8eafbc44e6" /><Relationship Type="http://schemas.openxmlformats.org/officeDocument/2006/relationships/notesMaster" Target="/ppt/notesMasters/notesMaster1.xml" Id="R7cf54800d3cb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66e2322d344b00" /><Relationship Type="http://schemas.openxmlformats.org/officeDocument/2006/relationships/notesMaster" Target="/ppt/notesMasters/notesMaster1.xml" Id="Rd255b59f960347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90e90a6d85492d" /><Relationship Type="http://schemas.openxmlformats.org/officeDocument/2006/relationships/notesMaster" Target="/ppt/notesMasters/notesMaster1.xml" Id="R6a8933ea9a744f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3f4db7f1984bd9" /><Relationship Type="http://schemas.openxmlformats.org/officeDocument/2006/relationships/notesMaster" Target="/ppt/notesMasters/notesMaster1.xml" Id="R8c97ef1da1f845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4cd75fbf794f16" /><Relationship Type="http://schemas.openxmlformats.org/officeDocument/2006/relationships/notesMaster" Target="/ppt/notesMasters/notesMaster1.xml" Id="R19c7d59729af43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28c97c80f94886" /><Relationship Type="http://schemas.openxmlformats.org/officeDocument/2006/relationships/notesMaster" Target="/ppt/notesMasters/notesMaster1.xml" Id="R554c58dff17640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da99e575d744f9" /><Relationship Type="http://schemas.openxmlformats.org/officeDocument/2006/relationships/notesMaster" Target="/ppt/notesMasters/notesMaster1.xml" Id="Rd47dbee471034c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d9a6d5881f4ae3" /><Relationship Type="http://schemas.openxmlformats.org/officeDocument/2006/relationships/notesMaster" Target="/ppt/notesMasters/notesMaster1.xml" Id="Rd822b84b036743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3244320cf64183" /><Relationship Type="http://schemas.openxmlformats.org/officeDocument/2006/relationships/notesMaster" Target="/ppt/notesMasters/notesMaster1.xml" Id="Reb287736bf1c46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c97c334dfe4a43" /><Relationship Type="http://schemas.openxmlformats.org/officeDocument/2006/relationships/notesMaster" Target="/ppt/notesMasters/notesMaster1.xml" Id="R7bf2cfef5ddd40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85ba5754eb43fa" /><Relationship Type="http://schemas.openxmlformats.org/officeDocument/2006/relationships/notesMaster" Target="/ppt/notesMasters/notesMaster1.xml" Id="R597dc6500d5049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87a68f0a3c4c1c" /><Relationship Type="http://schemas.openxmlformats.org/officeDocument/2006/relationships/notesMaster" Target="/ppt/notesMasters/notesMaster1.xml" Id="R8cabb3edce524f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0c49e644af44ac" /><Relationship Type="http://schemas.openxmlformats.org/officeDocument/2006/relationships/notesMaster" Target="/ppt/notesMasters/notesMaster1.xml" Id="R5741088f83b84f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54f04cfd834acb" /><Relationship Type="http://schemas.openxmlformats.org/officeDocument/2006/relationships/notesMaster" Target="/ppt/notesMasters/notesMaster1.xml" Id="R166bd75e97e944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3c11e253d9455b" /><Relationship Type="http://schemas.openxmlformats.org/officeDocument/2006/relationships/notesMaster" Target="/ppt/notesMasters/notesMaster1.xml" Id="Rdefd2bd507884f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bfb96259d847ba" /><Relationship Type="http://schemas.openxmlformats.org/officeDocument/2006/relationships/notesMaster" Target="/ppt/notesMasters/notesMaster1.xml" Id="R2aae8ea4310741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784a76e8e546de" /><Relationship Type="http://schemas.openxmlformats.org/officeDocument/2006/relationships/notesMaster" Target="/ppt/notesMasters/notesMaster1.xml" Id="R1597843d3aac45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9a38dc593244f20" /><Relationship Type="http://schemas.openxmlformats.org/officeDocument/2006/relationships/notesMaster" Target="/ppt/notesMasters/notesMaster1.xml" Id="Rc22dd428b0674f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1d56735f7f4e60" /><Relationship Type="http://schemas.openxmlformats.org/officeDocument/2006/relationships/notesMaster" Target="/ppt/notesMasters/notesMaster1.xml" Id="Rf4e7a2223834493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691ae1b8be4798" /><Relationship Type="http://schemas.openxmlformats.org/officeDocument/2006/relationships/notesMaster" Target="/ppt/notesMasters/notesMaster1.xml" Id="Rd2a85221f96843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learners, confirm the course scope and explain that practical competence requires active participation, not reading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what competent security performance looks like. Link their answers to knowledge, application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Orient learners to the sequence. Explain that later modules rely on observation, communication, legal awareness and accurate records introduced earlier.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rhythm throughout the course. Keep explanations concise and allocate time for learner talk, demonstration and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1: Personal Hygiene and General Appearance.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2: Public Relations.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3: Role and Function of Security.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4: Recognition of Bombs, Explosive Devices and Firearms.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5: Discipline and Professional Conduct.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6: Basic Self-Defence and Personal Safety.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7: Observation.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8: Guarding and Patrolling.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9: Firefighting, Prevention and Protection.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10: Radio and Telephone Communication.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11: Legal Aspects.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12: Industrial Relations.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13: Occupational Safety.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14: Access Control.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15: Search Procedures and Techniques.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16: Pocketbooks and the Occurrence Book.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17: Written Reports.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18: The Threat. Explain the essential knowledge, then use the scenario to elicit a safe sequence of actions. Ask learners to justify what they would communicate and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integrated prompt in small groups. Require each group to state priorities, delegation, communication and records. Correct any suggestion to touch the bag or bypass access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confirming next steps: workbook completion, practical observation, assessment conditions, feedback and records. Do not announce a pass threshold unless it is the current provider-approved standard.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Mupo Security Training, Grade E, D &amp; C Training Manual, Publication Ready Edition 2.1 (user-provided).</a:t>
            </a:r>
          </a:p>
          <a:p xmlns:a="http://schemas.openxmlformats.org/drawingml/2006/main">
            <a:r>
              <a:t>- User-provided Mupo Training Center and Mupo Security Training logos and manual illustrations.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11d4d45cf043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0a4794a514c56" /><Relationship Type="http://schemas.openxmlformats.org/officeDocument/2006/relationships/slideLayout" Target="/ppt/slideLayouts/slideLayout1.xml" Id="R15999eca1a4b42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999eca1a4b42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71119e8184c5a" /><Relationship Type="http://schemas.openxmlformats.org/officeDocument/2006/relationships/image" Target="/ppt/media/image.png" Id="R25e6ce906dca4ebe" /><Relationship Type="http://schemas.openxmlformats.org/officeDocument/2006/relationships/image" Target="/ppt/media/image2.png" Id="Rcce402f8eb6244d4" /><Relationship Type="http://schemas.openxmlformats.org/officeDocument/2006/relationships/notesSlide" Target="/ppt/notesSlides/notesSlide1.xml" Id="Rbe52ee4959e947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3b54ab7244f82" /><Relationship Type="http://schemas.openxmlformats.org/officeDocument/2006/relationships/notesSlide" Target="/ppt/notesSlides/notesSlide2.xml" Id="R88cad71b8a4145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21528f2e64baf" /><Relationship Type="http://schemas.openxmlformats.org/officeDocument/2006/relationships/notesSlide" Target="/ppt/notesSlides/notesSlide3.xml" Id="Rb7ea6b2e2f5d44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901bc693d4f56" /><Relationship Type="http://schemas.openxmlformats.org/officeDocument/2006/relationships/notesSlide" Target="/ppt/notesSlides/notesSlide4.xml" Id="R87c677d5d0dd41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647def5f4221" /><Relationship Type="http://schemas.openxmlformats.org/officeDocument/2006/relationships/image" Target="/ppt/media/image3.png" Id="Rc6b632ba0be3448d" /><Relationship Type="http://schemas.openxmlformats.org/officeDocument/2006/relationships/notesSlide" Target="/ppt/notesSlides/notesSlide5.xml" Id="R66985928f96742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fcf5a732b424c" /><Relationship Type="http://schemas.openxmlformats.org/officeDocument/2006/relationships/notesSlide" Target="/ppt/notesSlides/notesSlide6.xml" Id="R2776e31b644249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ba49a70604549" /><Relationship Type="http://schemas.openxmlformats.org/officeDocument/2006/relationships/notesSlide" Target="/ppt/notesSlides/notesSlide7.xml" Id="R11807b83429a42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c133d4b4f4fba" /><Relationship Type="http://schemas.openxmlformats.org/officeDocument/2006/relationships/notesSlide" Target="/ppt/notesSlides/notesSlide8.xml" Id="R03f3f56455614d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cef5760a04737" /><Relationship Type="http://schemas.openxmlformats.org/officeDocument/2006/relationships/notesSlide" Target="/ppt/notesSlides/notesSlide9.xml" Id="Ra14dea54f26a4a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f9a9a69454dd1" /><Relationship Type="http://schemas.openxmlformats.org/officeDocument/2006/relationships/notesSlide" Target="/ppt/notesSlides/notesSlide10.xml" Id="R7ae9a40fc5814f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9c4c435c14b73" /><Relationship Type="http://schemas.openxmlformats.org/officeDocument/2006/relationships/notesSlide" Target="/ppt/notesSlides/notesSlide11.xml" Id="R2a39be376ac94e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c286d56ca4087" /><Relationship Type="http://schemas.openxmlformats.org/officeDocument/2006/relationships/image" Target="/ppt/media/image4.png" Id="R84c9a6615b004bcc" /><Relationship Type="http://schemas.openxmlformats.org/officeDocument/2006/relationships/notesSlide" Target="/ppt/notesSlides/notesSlide12.xml" Id="R22ddad0f6cd143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504417f1e410e" /><Relationship Type="http://schemas.openxmlformats.org/officeDocument/2006/relationships/image" Target="/ppt/media/image5.png" Id="Re4616cf6f2ba4a6e" /><Relationship Type="http://schemas.openxmlformats.org/officeDocument/2006/relationships/notesSlide" Target="/ppt/notesSlides/notesSlide13.xml" Id="R7ea3198e5fc840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8817d328344a1" /><Relationship Type="http://schemas.openxmlformats.org/officeDocument/2006/relationships/image" Target="/ppt/media/image6.png" Id="R9f50633364c44ca2" /><Relationship Type="http://schemas.openxmlformats.org/officeDocument/2006/relationships/notesSlide" Target="/ppt/notesSlides/notesSlide14.xml" Id="R531f0afd181e4f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3c30a1b1244df" /><Relationship Type="http://schemas.openxmlformats.org/officeDocument/2006/relationships/notesSlide" Target="/ppt/notesSlides/notesSlide15.xml" Id="R35ed783cb08145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25a256d7c4271" /><Relationship Type="http://schemas.openxmlformats.org/officeDocument/2006/relationships/notesSlide" Target="/ppt/notesSlides/notesSlide16.xml" Id="R348bed59547b4c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c077107c04b1f" /><Relationship Type="http://schemas.openxmlformats.org/officeDocument/2006/relationships/notesSlide" Target="/ppt/notesSlides/notesSlide17.xml" Id="R1aa773c573994e4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c26a3a9944046" /><Relationship Type="http://schemas.openxmlformats.org/officeDocument/2006/relationships/notesSlide" Target="/ppt/notesSlides/notesSlide18.xml" Id="R499a0761bc9c45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9bfa8ce4e4044" /><Relationship Type="http://schemas.openxmlformats.org/officeDocument/2006/relationships/image" Target="/ppt/media/image7.png" Id="Ra072dc217a9b40e4" /><Relationship Type="http://schemas.openxmlformats.org/officeDocument/2006/relationships/notesSlide" Target="/ppt/notesSlides/notesSlide19.xml" Id="R07e586892fe149c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51ebdceb54b7f" /><Relationship Type="http://schemas.openxmlformats.org/officeDocument/2006/relationships/notesSlide" Target="/ppt/notesSlides/notesSlide20.xml" Id="R2b0145530cf04a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2027cf6e84ee0" /><Relationship Type="http://schemas.openxmlformats.org/officeDocument/2006/relationships/notesSlide" Target="/ppt/notesSlides/notesSlide21.xml" Id="R84f736769c814b0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fb7c6492946f5" /><Relationship Type="http://schemas.openxmlformats.org/officeDocument/2006/relationships/notesSlide" Target="/ppt/notesSlides/notesSlide22.xml" Id="R6349344d11744f1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0519e52164af6" /><Relationship Type="http://schemas.openxmlformats.org/officeDocument/2006/relationships/notesSlide" Target="/ppt/notesSlides/notesSlide23.xml" Id="R728378f44965455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138de8fef4edc" /><Relationship Type="http://schemas.openxmlformats.org/officeDocument/2006/relationships/image" Target="/ppt/media/image8.png" Id="R3c4a4ac92f1f4087" /><Relationship Type="http://schemas.openxmlformats.org/officeDocument/2006/relationships/notesSlide" Target="/ppt/notesSlides/notesSlide24.xml" Id="Ra0b9927677d84d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12FA9-0295-47BB-9089-34D7C91D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B45"/>
          </a:solidFill>
          <a:ln xmlns:a="http://schemas.openxmlformats.org/drawingml/2006/main" w="0">
            <a:solidFill>
              <a:srgbClr val="121B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A54F4-C98E-48D3-A73B-0FABF5EB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6ce906dca4ebe"/>
          <a:stretch xmlns:a="http://schemas.openxmlformats.org/drawingml/2006/main"/>
        </p:blipFill>
        <p:spPr>
          <a:xfrm xmlns:a="http://schemas.openxmlformats.org/drawingml/2006/main">
            <a:off x="1022109" y="552450"/>
            <a:ext cx="3594581" cy="12001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402f8eb6244d4"/>
          <a:stretch xmlns:a="http://schemas.openxmlformats.org/drawingml/2006/main"/>
        </p:blipFill>
        <p:spPr>
          <a:xfrm xmlns:a="http://schemas.openxmlformats.org/drawingml/2006/main">
            <a:off x="9620250" y="573470"/>
            <a:ext cx="1409700" cy="100571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3A916-185B-47D4-AC54-779F0B82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21B45"/>
                </a:solidFill>
              </a:defRPr>
            </a:pPr>
            <a:r>
              <a:rPr sz="4350" b="1">
                <a:solidFill>
                  <a:srgbClr val="121B45"/>
                </a:solidFill>
              </a:rPr>
              <a:t>FACILITATOR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D5095-93D1-4FA8-8CA2-514141FB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1B28"/>
                </a:solidFill>
              </a:defRPr>
            </a:pPr>
            <a:r>
              <a:rPr sz="2100" b="1">
                <a:solidFill>
                  <a:srgbClr val="F51B28"/>
                </a:solidFill>
              </a:rPr>
              <a:t>PSIRA Grade E, D &amp; C Security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E538F-EEFE-4E21-8133-E8EA1AD0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087"/>
                </a:solidFill>
              </a:defRPr>
            </a:pPr>
            <a:r>
              <a:rPr sz="1650" b="0">
                <a:solidFill>
                  <a:srgbClr val="657087"/>
                </a:solidFill>
              </a:rPr>
              <a:t>A structured teaching sequence for explanation, discussion, practice and assessment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A6654-1DDF-4A7F-B9F2-DF95D8EE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B45"/>
          </a:solidFill>
          <a:ln xmlns:a="http://schemas.openxmlformats.org/drawingml/2006/main" w="0">
            <a:solidFill>
              <a:srgbClr val="12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950E0-E9DF-4F3E-93DB-ACED8547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60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SAFE  •  LAWFUL  •  PROFESSIONAL</a:t>
            </a:r>
          </a:p>
        </p:txBody>
      </p:sp>
    </p:spTree>
    <p:extLst>
      <p:ext uri="{BB962C8B-B14F-4D97-AF65-F5344CB8AC3E}">
        <p14:creationId xmlns:p14="http://schemas.microsoft.com/office/powerpoint/2010/main" val="745802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DCAB1-EAA6-43B3-A5C9-85680293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226C0-DDF8-4419-8D24-A6D378D7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A3C6C-C9C7-4FF3-BB48-B3B52E12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COURSE 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53E0E-4E84-406A-838E-86135BB3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49804-6ECE-4862-B906-6B940B3F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9FF3E-C383-4CB2-8DF7-6AAC6936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B45"/>
                </a:solidFill>
              </a:defRPr>
            </a:pPr>
            <a:r>
              <a:rPr sz="2850" b="1">
                <a:solidFill>
                  <a:srgbClr val="121B45"/>
                </a:solidFill>
              </a:rPr>
              <a:t>The goal is confident, safe and lawful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28621-9EF2-4BF8-8179-484F2FD5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1B28"/>
                </a:solidFill>
              </a:defRPr>
            </a:pPr>
            <a:r>
              <a:rPr sz="1650" b="1">
                <a:solidFill>
                  <a:srgbClr val="F51B28"/>
                </a:solidFill>
              </a:rPr>
              <a:t>By the end, learners should be able to: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CC87C-DF6D-460E-9748-0D947987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1B28"/>
                </a:solidFill>
              </a:defRPr>
            </a:pPr>
            <a:r>
              <a:rPr sz="2550" b="1">
                <a:solidFill>
                  <a:srgbClr val="F51B2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A5A2C-FDDF-4129-B134-136FEC80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66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3E564-5FF0-40B8-BB47-EF3BE8CF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908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Explain the core duties, limits and risks of security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EE27E-C6A3-4C17-BD2D-D85F424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1B28"/>
                </a:solidFill>
              </a:defRPr>
            </a:pPr>
            <a:r>
              <a:rPr sz="2550" b="1">
                <a:solidFill>
                  <a:srgbClr val="F51B2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457DD-940F-445F-9787-7F733AB6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48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APPLY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564B8-AA64-45E9-A4AB-E2275444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719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Choose site-appropriate actions in realistic situations.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93DBE-68F6-44B3-9853-C3B655A3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876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1B28"/>
                </a:solidFill>
              </a:defRPr>
            </a:pPr>
            <a:r>
              <a:rPr sz="2550" b="1">
                <a:solidFill>
                  <a:srgbClr val="F51B2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CED3B-53BE-428A-849F-26AA095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C538F-F88D-4869-B503-1E4CAC4C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Communicate, record and demonstrate competence clearly.</a:t>
            </a:r>
          </a:p>
        </p:txBody>
      </p:sp>
    </p:spTree>
    <p:extLst>
      <p:ext uri="{BB962C8B-B14F-4D97-AF65-F5344CB8AC3E}">
        <p14:creationId xmlns:p14="http://schemas.microsoft.com/office/powerpoint/2010/main" val="380278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B798F2-55D0-4965-A796-C0E545F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D6469-7586-411E-8582-0E126129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7A095-FB44-429D-853D-50C2B364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LEARNING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8736B-CDBF-4FC4-B119-FC677B6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FC7F7-E247-43EC-A864-420F7552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505EC-453D-4824-9E81-E77A764B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Eighteen modules build from personal conduct to site protection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E24F4-EAC0-410F-84F4-AEFD9206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3276600" cy="41529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4B9A1-BF12-458F-A240-E136108E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PHASE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6F8DF-B38F-4A7C-A122-B26AA93A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37"/>
                </a:solidFill>
              </a:defRPr>
            </a:pPr>
            <a:r>
              <a:rPr sz="1200" b="1">
                <a:solidFill>
                  <a:srgbClr val="202637"/>
                </a:solidFill>
              </a:rPr>
              <a:t>01  Personal Hygiene and General Appearance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88729-5B58-4102-8458-4A7EE9FF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02  Public Relations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7AD26-E3B2-4384-9839-D23751E1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03  Role and Function of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E883D-B152-4DB1-A69E-6603C02D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04  Recognition of Bombs, Explosive Devices and Firearms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964FB-230F-4B92-A1DA-A841494E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05  Discipline and Professional Conduct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C3E7E-5693-48B5-BC4E-A09D7C1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06  Basic Self-Defence and Personal 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18763-7A67-4A33-BA85-FD73F32E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57350"/>
            <a:ext cx="3276600" cy="41529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771B2-44E7-4810-9296-B1E241E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PHASE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A6344-1429-4045-AD52-64B84642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37"/>
                </a:solidFill>
              </a:defRPr>
            </a:pPr>
            <a:r>
              <a:rPr sz="1200" b="1">
                <a:solidFill>
                  <a:srgbClr val="202637"/>
                </a:solidFill>
              </a:rPr>
              <a:t>07  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76AC6-A41B-4B6D-860D-4477B72C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08  Guarding and Patrolling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3922C-7A2F-4488-9B99-4862A0A7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09  Firefighting, Prevention and Protection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F5B34-395C-4C15-AD76-3C7E068E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24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10  Radio and Telephone Communication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720D4-63D4-42D7-9B78-DE4E2267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11  Legal Aspects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0C73D4-33C8-407F-BE0A-1FD7A30E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12  Industrial Relations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A397F-B7EE-460A-9423-0BDB17AA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3276600" cy="41529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7914A-4678-429B-AD59-407EBD7E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PHASE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47296-9E1C-4759-9878-9D9D2E56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637"/>
                </a:solidFill>
              </a:defRPr>
            </a:pPr>
            <a:r>
              <a:rPr sz="1200" b="1">
                <a:solidFill>
                  <a:srgbClr val="202637"/>
                </a:solidFill>
              </a:rPr>
              <a:t>13  Occupational Safety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66237C-2348-4B68-9D8E-2AD0D1FB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14  Access 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FCABE2-2188-4AC2-8965-A0575D14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15  Search Procedures and Techniques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E62315-501D-4C63-9EC3-9812209D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243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16  Pocketbooks and the Occurrence Book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55EF74-8839-499E-8942-A907359C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17  Written Reports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65659-2759-4461-81BE-004626C7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29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637"/>
                </a:solidFill>
              </a:defRPr>
            </a:pPr>
            <a:r>
              <a:rPr sz="1200" b="0">
                <a:solidFill>
                  <a:srgbClr val="202637"/>
                </a:solidFill>
              </a:rPr>
              <a:t>18  The Threat</a:t>
            </a:r>
          </a:p>
        </p:txBody>
      </p:sp>
    </p:spTree>
    <p:extLst>
      <p:ext uri="{BB962C8B-B14F-4D97-AF65-F5344CB8AC3E}">
        <p14:creationId xmlns:p14="http://schemas.microsoft.com/office/powerpoint/2010/main" val="174422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EE8D8-4D3A-4C96-9868-9B96103A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F69BE-4D87-4E57-9A5B-EDDCBE2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5E03D-232A-440B-AF4E-C97970FE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DELIVERY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D3AB4-794A-4338-8FFC-08665FE4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8A54C-94C8-4A3A-A22C-27B8277D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221DC-CBF6-4438-B2B2-DA016045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8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B45"/>
                </a:solidFill>
              </a:defRPr>
            </a:pPr>
            <a:r>
              <a:rPr sz="2850" b="1">
                <a:solidFill>
                  <a:srgbClr val="121B45"/>
                </a:solidFill>
              </a:rPr>
              <a:t>Use a repeatable rhythm for every learning 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7CA4F-8431-4625-8629-9A84DC0E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1B28"/>
                </a:solidFill>
              </a:defRPr>
            </a:pPr>
            <a:r>
              <a:rPr sz="2850" b="1">
                <a:solidFill>
                  <a:srgbClr val="F51B2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D7C92-EF2A-427A-B76C-DBF22D5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B45"/>
                </a:solidFill>
              </a:defRPr>
            </a:pPr>
            <a:r>
              <a:rPr sz="1800" b="1">
                <a:solidFill>
                  <a:srgbClr val="121B45"/>
                </a:solidFill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B2957-AA24-4E3E-B8A4-2B488C93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Introduce the rule and why it matters.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50065-3FCF-42CA-BBD3-62F45D72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626A8-25DE-408E-B9C3-9C8A770C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478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1B28"/>
                </a:solidFill>
              </a:defRPr>
            </a:pPr>
            <a:r>
              <a:rPr sz="2850" b="1">
                <a:solidFill>
                  <a:srgbClr val="F51B2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C2D59-008B-42D8-9878-BFD60E2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B45"/>
                </a:solidFill>
              </a:defRPr>
            </a:pPr>
            <a:r>
              <a:rPr sz="1800" b="1">
                <a:solidFill>
                  <a:srgbClr val="121B45"/>
                </a:solidFill>
              </a:rPr>
              <a:t>DISCUSS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470662-C11A-4F4D-B449-CC126656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718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Connect the rule to learners’ experience.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664FA-2F2A-4E4F-8D5E-31C08E9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514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B45"/>
          </a:solidFill>
          <a:ln xmlns:a="http://schemas.openxmlformats.org/drawingml/2006/main" w="0">
            <a:solidFill>
              <a:srgbClr val="12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08C057-A24C-490E-9A8D-AE44FB9C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478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1B28"/>
                </a:solidFill>
              </a:defRPr>
            </a:pPr>
            <a:r>
              <a:rPr sz="2850" b="1">
                <a:solidFill>
                  <a:srgbClr val="F51B2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0CA86-255B-4246-975F-9CEA26A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B45"/>
                </a:solidFill>
              </a:defRPr>
            </a:pPr>
            <a:r>
              <a:rPr sz="1800" b="1">
                <a:solidFill>
                  <a:srgbClr val="121B45"/>
                </a:solidFill>
              </a:rPr>
              <a:t>PRACTISE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C9114-E137-4CE1-B744-9C664971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Use a scenario, role-play or site walk-through.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229BD-7615-4285-A3CA-E6437E2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4FB47-A9D9-44FA-80C1-BEE9CD87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478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1B28"/>
                </a:solidFill>
              </a:defRPr>
            </a:pPr>
            <a:r>
              <a:rPr sz="2850" b="1">
                <a:solidFill>
                  <a:srgbClr val="F51B28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E8E8F-6802-45DD-90C6-4F6678E7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9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B45"/>
                </a:solidFill>
              </a:defRPr>
            </a:pPr>
            <a:r>
              <a:rPr sz="1800" b="1">
                <a:solidFill>
                  <a:srgbClr val="121B45"/>
                </a:solidFill>
              </a:rPr>
              <a:t>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1B77D-0D4B-4634-8CE1-1CC6B35D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71800"/>
            <a:ext cx="2209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Confirm knowledge, application and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58C2C-B31B-43D6-8F93-81FF82A7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514850"/>
            <a:ext cx="2209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B45"/>
          </a:solidFill>
          <a:ln xmlns:a="http://schemas.openxmlformats.org/drawingml/2006/main" w="0">
            <a:solidFill>
              <a:srgbClr val="121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DFCEB-B660-4AE7-B25A-14FB44D7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57087"/>
                </a:solidFill>
              </a:defRPr>
            </a:pPr>
            <a:r>
              <a:rPr sz="1650" b="1">
                <a:solidFill>
                  <a:srgbClr val="657087"/>
                </a:solidFill>
              </a:rPr>
              <a:t>Facilitator principle: explain less, ask more, observe carefully and correct unsafe reasoning immediately.</a:t>
            </a:r>
          </a:p>
        </p:txBody>
      </p:sp>
    </p:spTree>
    <p:extLst>
      <p:ext uri="{BB962C8B-B14F-4D97-AF65-F5344CB8AC3E}">
        <p14:creationId xmlns:p14="http://schemas.microsoft.com/office/powerpoint/2010/main" val="2060075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ABBE4-B601-476E-B783-74C2B144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2173C-1716-413B-9D18-CFAD1210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9D73D-F98B-4E01-8C5A-F9D44FAA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AABE8-CE6E-45FC-A2ED-10458F2F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CB3A0-E076-46E0-8CF9-1AAEFF3B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D3B79-F274-4AC3-A6E6-C5E3456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01  •  60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8A26C-4BB9-4C4F-8A97-EFC7F9C2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Personal Hygiene and General Appearance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632ba0be3448d"/>
          <a:srcRect xmlns:a="http://schemas.openxmlformats.org/drawingml/2006/main" l="5269" t="0" r="52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123950"/>
            <a:ext cx="39624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CF5AC-6CBB-4541-AA56-6CB49718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C9516-46DA-4289-AC2B-805147B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90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Report for duty clean, rested and correctly dressed in a complete uniform.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Bathe regularly; keep hands, nails, teeth, hair and feet clean.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Wear clean clothing and socks and keep footwear presentable.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5F8D8-3554-41BE-B2E4-B3DEB83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962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51B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C19AD-5818-47D0-93D2-F17C5C30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95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FACILITATE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0ED07-6D73-488E-9B0D-9206D5BD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46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7"/>
                </a:solidFill>
              </a:defRPr>
            </a:pPr>
            <a:r>
              <a:rPr sz="1275" b="0">
                <a:solidFill>
                  <a:srgbClr val="202637"/>
                </a:solidFill>
              </a:rPr>
              <a:t>A colleague arrives for duty in a soiled uniform and appears unwell. Explain a respectful, safety-conscious response.</a:t>
            </a:r>
          </a:p>
        </p:txBody>
      </p:sp>
    </p:spTree>
    <p:extLst>
      <p:ext uri="{BB962C8B-B14F-4D97-AF65-F5344CB8AC3E}">
        <p14:creationId xmlns:p14="http://schemas.microsoft.com/office/powerpoint/2010/main" val="287219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54928-4DC5-471A-8814-66F93CB7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7896F-22D9-49A9-AC57-9BD465B6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FFE84-FC27-48CF-A282-C5DAC734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937DD-3E66-4829-9865-B4EC14F2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29233-0F58-47AE-81C8-E3C4ACC6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55215-DE76-4FE5-81E0-F6C959F8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02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91969-46BC-4A16-963F-AB6940AD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Public Relations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859F7-A6C5-4B13-A090-78F9C1B1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9B869-87DE-4E97-B9A7-CEEA5E5D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41E6D-3359-461F-9C24-84894108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 security officer is often the first point of contact at a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Be helpful, courteous, friendly and dignified while enforcing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Use clear, respectful language; listen before responding.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Maintain a professional attitude, full uniform and good manners.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33A8D-2FA3-430E-A26E-0F4127EC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EABD4-AA52-45C8-A3C0-75E94BDB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 visitor becomes impatient when asked to sign in. Demonstrate how to enforce the rule while preserving good relations.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49711-F073-4D1C-8755-683C4274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10EFB-0A6F-49FF-90A5-76D354D5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Communicate respectfully with the public and client representatives.</a:t>
            </a:r>
          </a:p>
        </p:txBody>
      </p:sp>
    </p:spTree>
    <p:extLst>
      <p:ext uri="{BB962C8B-B14F-4D97-AF65-F5344CB8AC3E}">
        <p14:creationId xmlns:p14="http://schemas.microsoft.com/office/powerpoint/2010/main" val="1653547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E6B35-A566-4CF0-93BC-A3C5765F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A0E16-22E7-4E72-931F-6DCB2C8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B9C77-D66D-420B-B045-9A239025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E74E7-6CD2-4C04-B169-AE43A79B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92E84-E1D7-4726-AFA3-EF51B0BF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664E15-4A70-44DC-B5CB-EEB05219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03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3CF36-BCF6-4817-A86A-5E0D874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Role and Function of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947E6-213E-4C83-829D-C19D4C53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5CE1-152B-409E-8178-FB990C07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68B48-2D97-4580-BD62-90188BFC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Security protects information, material and assets, and people.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Apply need-to-know principles to sensitive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 vulnerable area is relatively easy to penetrate or difficult to observe.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 vital point is essential to operations, such as a control room or power supply.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C2809-A263-4F25-86C0-B2F1791B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05E55-AC7B-4AF6-B302-D323DF1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During patrol you find a damaged fence near the generator room. Identify the vulnerable area, vital point and immediate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3BDA8-8522-4577-9524-ABC65202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57AFE-8618-4F3B-917E-C3C55174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Explain the role and core functions of security personnel.</a:t>
            </a:r>
          </a:p>
        </p:txBody>
      </p:sp>
    </p:spTree>
    <p:extLst>
      <p:ext uri="{BB962C8B-B14F-4D97-AF65-F5344CB8AC3E}">
        <p14:creationId xmlns:p14="http://schemas.microsoft.com/office/powerpoint/2010/main" val="1208063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9FF32-881E-4246-B1A2-93F0B2B8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21568-A473-4977-A2CD-DE06F09F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3D401-73D4-436A-9947-B83539A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BD69A-C80E-4E32-A1E1-C9A15362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DB8A2-E32B-47B3-B851-A2DB0861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C351A-8826-4807-AFB6-6F033134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04  •  120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1BC7F-0202-40D4-B6A5-B2AD4795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Recognition of Bombs,</a:t>
            </a:r>
          </a:p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Explosive Devices and Firearms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CE97D-B028-4576-AA4F-B3AB7EC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BF498-7C82-4279-9DF8-53F64323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7ACD4-73C5-4D45-95C2-1D2758D4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Treat an unusual unattended object as suspicious until assessed by authorised specialists.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Do not touch, move, open, cover or closely examine a suspicious object.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Move people away, control access and follow the site emergency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Notify the control point, supervisor and emergency services through approved channels.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6BFFD-A706-4E3C-9789-86A7B86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50D08-BF71-42D1-B7DE-41513684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 bag with visible wires is found near an entrance. State the safe sequence of actions and what must not be done.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2F1CF-B353-4FF0-BFFA-7BBCBE88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8AB85-E083-4689-A94E-1F446F7A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Recognise common firearm, explosive-device and bomb-threat indicators.</a:t>
            </a:r>
          </a:p>
        </p:txBody>
      </p:sp>
    </p:spTree>
    <p:extLst>
      <p:ext uri="{BB962C8B-B14F-4D97-AF65-F5344CB8AC3E}">
        <p14:creationId xmlns:p14="http://schemas.microsoft.com/office/powerpoint/2010/main" val="10698616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2FDD6-FCDD-4B6D-BFFF-8ECCB1D5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C1B59-BCD0-480B-AA0F-8211DFCA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AED60-F83D-47D1-8672-B8F986E0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F4BCA-BAF5-4198-8FDE-3EE0116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AA0A0-078F-4CE5-80ED-29DD4F06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F5241-1948-43BC-9E40-D56FF098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05  •  60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98829-CDFC-4C7E-8B43-03853A73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Discipline and Professional Conduct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E0A08-90B6-4677-9EF1-EA71E6E2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8237C-B37E-4794-98EE-17B3C606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56E4F-DA8B-4B30-9324-54B24094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Report on time, properly dressed, fit for duty and ready for handover.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Follow lawful instructions, post orders and the chain of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Protect confidential information and company property.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Record incidents accurately and report misconduct through authorised channels.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42BE4-15AF-4B5F-B519-160B5E78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BBD98-CE19-4A0C-B140-F6E495E8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 colleague asks you to ignore a known visitor who has no authority to enter. Explain your professional response.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EAF87-597C-4CB0-BE42-00DF371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966E6-233A-4D0F-97AF-47CE98F1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Explain why discipline and lawful instruction matter at work.</a:t>
            </a:r>
          </a:p>
        </p:txBody>
      </p:sp>
    </p:spTree>
    <p:extLst>
      <p:ext uri="{BB962C8B-B14F-4D97-AF65-F5344CB8AC3E}">
        <p14:creationId xmlns:p14="http://schemas.microsoft.com/office/powerpoint/2010/main" val="11257962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16A03-31E0-4312-ABA9-1DAFE139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74203-F595-4718-96C4-35535FA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A7A50-CB85-46E5-944A-FA844670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C13D1-F313-4278-9E8A-50FC97C9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FEACC-8A06-41F8-8662-0BF8198F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CFB84-3425-4DCD-A0D3-8FA6D383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06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CA3E7-22F9-4AAF-B005-AC28EC79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Basic Self-Defence and Personal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22964-ECF0-4A63-9A6E-EC6A8FC4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01F77-5A7C-489C-9198-767DEAED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4DC5F-3950-42CF-9BD1-3A8E659B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Prevention, awareness and de-escalation come before physical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Maintain distance, a safe exit route and access to assistance.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Use calm communication and avoid unnecessary confrontation.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Use only lawful, necessary and proportionate force within training and authority.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A1BEA-B6AC-4851-8E6D-91BD15B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BBBB4-6838-4E32-AFD4-5F945027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 person is shouting and moving closer while blocking your route. Explain how you would position, communicate and seek help.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63117-5259-4CC2-9A63-BC865DD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370F2-23C8-43B2-A10C-C0AF41BA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Identify hazards, warning signs and safer positioning.</a:t>
            </a:r>
          </a:p>
        </p:txBody>
      </p:sp>
    </p:spTree>
    <p:extLst>
      <p:ext uri="{BB962C8B-B14F-4D97-AF65-F5344CB8AC3E}">
        <p14:creationId xmlns:p14="http://schemas.microsoft.com/office/powerpoint/2010/main" val="1968970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127BD-FFC0-4AA4-AF6C-9E925C40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70E38-069F-4046-AE9B-49FCAE61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4B106-DA98-4E30-88FA-F86ED559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AD132-C72D-451E-9876-8154A713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37D97-6A72-44FF-B984-284BC4C0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FB542-104B-4484-8926-AEB69796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07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BEAD5-3C92-431A-91AD-D21BD25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AB519-FD7B-42A0-8278-9B84F491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763E4-5047-4569-AA24-7D9126B6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8852A-0248-4EF1-A576-896CF25B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Use sight, hearing and other safe sensory information purposefully.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Observe systematically rather than relying on a quick impression.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Record facts: time, location, direction, sequence, appearance and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Describe people from general to specific and vehicles by make, colour, registration and distinctive features.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25337-FE7B-4995-9D63-7DC1E1CF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82350-0F11-444E-B48F-3AAC2581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You see a vehicle leave quickly after an alarm. Record only the observable facts that could assist a follow-up.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23406-3E82-4B47-AA7D-E3385E2C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474B0-C32A-4C7C-9A41-613DCBC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Observe people, vehicles and objects systematically.</a:t>
            </a:r>
          </a:p>
        </p:txBody>
      </p:sp>
    </p:spTree>
    <p:extLst>
      <p:ext uri="{BB962C8B-B14F-4D97-AF65-F5344CB8AC3E}">
        <p14:creationId xmlns:p14="http://schemas.microsoft.com/office/powerpoint/2010/main" val="9234718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EF418-F0D0-44A9-B11B-F40FCD32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2A39A-6341-4F10-A192-B4564912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16BE1-0FA9-44C2-AF2D-DA249B23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C09D4-86A7-4E00-92E2-4D6DE06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A72B0-A58C-40B6-95B0-6F84491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DF910-7B60-40CB-B599-BF5B60B7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08  •  150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E4479-C923-4969-B70A-30446B81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Guarding and Patrolling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9a6615b004bcc"/>
          <a:srcRect xmlns:a="http://schemas.openxmlformats.org/drawingml/2006/main" l="5269" t="0" r="52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123950"/>
            <a:ext cx="39624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320EE-3755-4EAF-BD63-A851F574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C9557-79CC-4E89-BD57-B0EA0FD9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90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Know post orders, patrol routes, communication methods and escalation contacts.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Vary patrol timing where authorised and remain alert to routine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Check doors, windows, fences, lighting, hazards, vital points and emergency equipment.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AE85D-BAEE-4E7D-B097-1B4E0AB8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962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51B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9E376-E5B2-45C8-B93D-4E59FC85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95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FACILITATE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CF274-827F-40D0-9D02-F8387082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46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7"/>
                </a:solidFill>
              </a:defRPr>
            </a:pPr>
            <a:r>
              <a:rPr sz="1275" b="0">
                <a:solidFill>
                  <a:srgbClr val="202637"/>
                </a:solidFill>
              </a:rPr>
              <a:t>During night patrol you find an open rear door, fresh tool marks and no authorised work nearby. Explain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3374030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CE1BB-E639-4529-A9DD-1DA22149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0B2A5-FB4A-40E1-8CF2-1BF327F1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38A59-EA4D-4365-A922-2AEBBB1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4A644-F0F8-4ADB-BFEA-D1A67DFB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F6AB6-F153-4D8F-B62A-E9D624AF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4A1E7-B845-4721-A839-6E7F01BE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09  •  120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0B8A5-7EA2-4805-88DD-5E1D77C9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Firefighting, Prevention and Protection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16cf6f2ba4a6e"/>
          <a:srcRect xmlns:a="http://schemas.openxmlformats.org/drawingml/2006/main" l="5269" t="0" r="52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123950"/>
            <a:ext cx="39624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491D5-103A-46BB-A0E4-04D87480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D5BF5-ECEA-4FE5-A2E1-A7D8574E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90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Prevent fire through good housekeeping, safe electrical use and correct storage.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Know alarm points, exits, assembly points and emergency contacts.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On discovering fire: raise the alarm, protect life, call for help and follow the site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93DBE-D37E-4EBC-95BF-0E1B90F9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962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51B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5C248-39E8-4B0D-A9FF-08FA0992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95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FACILITATE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FABEB-EEE9-4674-906D-E9C34A55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46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7"/>
                </a:solidFill>
              </a:defRPr>
            </a:pPr>
            <a:r>
              <a:rPr sz="1275" b="0">
                <a:solidFill>
                  <a:srgbClr val="202637"/>
                </a:solidFill>
              </a:rPr>
              <a:t>Smoke is coming from an electrical cabinet. State your priorities and explain when you should not attempt firefighting.</a:t>
            </a:r>
          </a:p>
        </p:txBody>
      </p:sp>
    </p:spTree>
    <p:extLst>
      <p:ext uri="{BB962C8B-B14F-4D97-AF65-F5344CB8AC3E}">
        <p14:creationId xmlns:p14="http://schemas.microsoft.com/office/powerpoint/2010/main" val="619768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00128-44E0-4660-B6F9-E293118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EEC6D-AB5D-4024-B4CF-698E3D3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B729C-7B6D-48B9-9D9E-94873649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C8CE9-EDCD-4539-A393-005CCA86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43418-1B67-44A6-AF4E-C2531D4B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BF017-0C9A-4D15-9A99-5C36BC1B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10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855A3-1794-4DF7-9793-05B1698A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Radio and Telephone Communication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0633364c44ca2"/>
          <a:srcRect xmlns:a="http://schemas.openxmlformats.org/drawingml/2006/main" l="5269" t="0" r="52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123950"/>
            <a:ext cx="39624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82D31-E5A6-4869-B0B2-BA92E1DD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74421-EFB8-4625-8C44-7BF0E0EE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90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Answer promptly, identify the service and speak clearly.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Listen, confirm important facts and repeat back critical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Keep radio messages brief, accurate, professional and relevant.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93554-B3EE-43F1-8437-AE143CE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962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51B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DD595E-A6F6-40D2-8EDC-E8005320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95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FACILITATE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65C83-7C3C-4293-8AED-E4C120D5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46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7"/>
                </a:solidFill>
              </a:defRPr>
            </a:pPr>
            <a:r>
              <a:rPr sz="1275" b="0">
                <a:solidFill>
                  <a:srgbClr val="202637"/>
                </a:solidFill>
              </a:rPr>
              <a:t>A noisy radio message reports a possible break-in. Demonstrate how to clarify, repeat back and record the message.</a:t>
            </a:r>
          </a:p>
        </p:txBody>
      </p:sp>
    </p:spTree>
    <p:extLst>
      <p:ext uri="{BB962C8B-B14F-4D97-AF65-F5344CB8AC3E}">
        <p14:creationId xmlns:p14="http://schemas.microsoft.com/office/powerpoint/2010/main" val="4619558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8C883-95A6-48D8-A852-F2E37686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F2205-F32D-4D69-8BB4-A57FBB58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28772-B55E-405D-820B-20ADA384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9B812-D4B0-4E26-A3CC-C8EBD16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E9A75-39C2-48ED-A1E0-5F85B97E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6D8EF-76E7-4227-84D2-91285DBC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11  •  180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E35E7-3805-414A-B4B0-54497487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Legal Aspects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4BFB5-5CA6-44B5-AAC3-D3DEB585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F6009-D20C-48B9-BE4F-4F4222F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702F4-2B5E-46DD-980F-82FFBDAC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Work only within registration status, training, assignment and lawful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Respect dignity, privacy and constitutional rights while protecting people and property.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Arrest, search and force have legal limits; uncertainty must be escalated.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Force must be necessary, proportionate and discontinued when the threat ends.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74298-84B7-4992-8743-DDF18508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2007E-DBBD-4B66-9EDD-388F514C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 suspect is detained after property is found nearby, but ownership is uncertain. Explain the lawful safeguards and escalation steps.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1DB7D-1A09-4CD4-A2D8-2C188382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13CDA-0CE7-43CB-815F-DD32C38E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Explain basic legal limits affecting security work.</a:t>
            </a:r>
          </a:p>
        </p:txBody>
      </p:sp>
    </p:spTree>
    <p:extLst>
      <p:ext uri="{BB962C8B-B14F-4D97-AF65-F5344CB8AC3E}">
        <p14:creationId xmlns:p14="http://schemas.microsoft.com/office/powerpoint/2010/main" val="10812691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3CA2D-5BB1-4BED-B085-3C9A80D4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3EFF1-D110-4F11-A130-D45F25CF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EC190-0F00-49AD-A8DE-CC7A0AFD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28D32-D347-475F-8990-8698CCF1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061CD-B3F0-4BAF-8C48-7E43DA7F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1E6FB-A37A-4AE0-B4D8-44BEB5B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12  •  60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7F946-C372-4FCE-A66C-D352DEEA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Industrial Relations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0B1A4-BF32-4C9B-A8FA-6E238531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49B11-8387-461C-89C7-AD4E4996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BC344-4C2A-415E-8718-738B8049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 disciplinary code communicates expected conduct and possible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Rules should be lawful, known, reasonable and applied consistently.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 grievance process allows concerns to be raised and resolved through proper channels.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Record facts and avoid rumours, retaliation or public argument.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885B9-4D13-4E57-839E-CAF0C24C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D9692-9EE1-4869-9561-0B4F5C1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An employee complains that a workplace rule is being applied unfairly. Explain how to receive and refer the complaint professionally.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2993A-9A69-498B-95A0-D8E93D4F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40A9A-A05D-4FAB-8A77-C39912B8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Explain the purpose of discipline and grievance procedures.</a:t>
            </a:r>
          </a:p>
        </p:txBody>
      </p:sp>
    </p:spTree>
    <p:extLst>
      <p:ext uri="{BB962C8B-B14F-4D97-AF65-F5344CB8AC3E}">
        <p14:creationId xmlns:p14="http://schemas.microsoft.com/office/powerpoint/2010/main" val="12336368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0B232-E820-4A51-928E-324389D1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30372-01CF-49E1-ACC7-447E4B04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E9A5A-357B-4594-9105-85165B14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90C85-45FF-4248-AC57-6B3ADA35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FAE2D-B5CB-4158-BFFC-D721D200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93073-8AE3-4B8D-BF70-9B7AC75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13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61D4C-DE12-4858-9EEB-FDD2B2D3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Occupational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34E11-C5B4-4CF9-9249-BE5D771E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EF790-7745-4920-86F3-C414F67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4743A-EC6A-47D9-B2F7-630B238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Identify hazards before beginning a task or entering an unfamiliar area.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Obey prohibition, warning, mandatory and emergency-information signs.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Use required personal protective equipment and inspect it before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Keep routes, exits and work areas clear through good housekeeping.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CBF7F-C61C-49AB-B606-C2C5956D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24A78-5D6F-4C30-8A0E-F30AF9F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An extension lead crosses a busy passage and an emergency exit is partly blocked. Identify the hazards and corrective actions.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CEB52-6652-492F-BF74-E9D3C0D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61127-EBCC-4E55-8C39-67A378CE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Recognise workplace hazards and unsafe conditions.</a:t>
            </a:r>
          </a:p>
        </p:txBody>
      </p:sp>
    </p:spTree>
    <p:extLst>
      <p:ext uri="{BB962C8B-B14F-4D97-AF65-F5344CB8AC3E}">
        <p14:creationId xmlns:p14="http://schemas.microsoft.com/office/powerpoint/2010/main" val="17580306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05679-3B81-446A-8D62-49CADC9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7E199-86DC-44AF-A47C-729EE138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0A007-F850-4804-9985-133DD4CC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CF203-6B51-4B63-AA0B-54A4033C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CF7C8-83AA-41F2-9A0C-8309CD66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97D6C-6A0F-44F7-A593-AEC1CC03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14  •  120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152E4-EE2A-41C8-99B0-E4DE23E5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Access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F06AE-8114-4A50-8F4B-5268BBCE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34576-0E9A-4DC5-9C37-13AB437D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B9912-AC1B-4262-BA8C-A2E74932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Apply site rules consistently to employees, visitors, contractors and vehicles.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Verify identity and authority before granting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Issue, control and recover passes or permits as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Record entries, exits, deliveries and exceptions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33325-7B24-44A8-8217-5C658A69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E125A-6E4A-4ACB-89A6-B4A9CE4E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 contractor has valid identification but is not on the authorised list. Explain your decision, communication and escalation.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EE3BD0-2A03-4255-8E02-6C2B71A6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07724-5DD5-4738-A52D-9D16563D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Explain why access is controlled and recorded.</a:t>
            </a:r>
          </a:p>
        </p:txBody>
      </p:sp>
    </p:spTree>
    <p:extLst>
      <p:ext uri="{BB962C8B-B14F-4D97-AF65-F5344CB8AC3E}">
        <p14:creationId xmlns:p14="http://schemas.microsoft.com/office/powerpoint/2010/main" val="19687051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B077F-A406-4209-8C1F-EE8A6637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43661-10C5-4811-A76A-329F468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D6A25-3483-4441-BC90-FE759E12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80E84-D125-4968-898E-1C40342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9CC13-9043-4E45-A567-5AFC440B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8DC06-7D5B-400F-B141-5CCD5B94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15  •  150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BFA5C-F85F-4437-9F4F-80714C9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Search Procedures and Techniques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2dc217a9b40e4"/>
          <a:srcRect xmlns:a="http://schemas.openxmlformats.org/drawingml/2006/main" l="5269" t="0" r="52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123950"/>
            <a:ext cx="39624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68641-E826-42CE-BEA3-1F3AFEF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90E5D-761E-45A3-9D06-3B9FA71C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5905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Confirm lawful authority or valid consent before a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Explain the procedure, protect dignity and avoid discrimination.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Use a systematic method and have suitable supervision or assistance.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50314-8213-4BBC-BDB1-34DA7818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962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51B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9A921-1AA7-4E6D-9196-0C045F94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95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FACILITATE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D9368-4C3D-4317-8396-FAF4BFB5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467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637"/>
                </a:solidFill>
              </a:defRPr>
            </a:pPr>
            <a:r>
              <a:rPr sz="1275" b="0">
                <a:solidFill>
                  <a:srgbClr val="202637"/>
                </a:solidFill>
              </a:rPr>
              <a:t>A visitor first agrees to a bag search and then withdraws consent. Explain the lawful response and access decision.</a:t>
            </a:r>
          </a:p>
        </p:txBody>
      </p:sp>
    </p:spTree>
    <p:extLst>
      <p:ext uri="{BB962C8B-B14F-4D97-AF65-F5344CB8AC3E}">
        <p14:creationId xmlns:p14="http://schemas.microsoft.com/office/powerpoint/2010/main" val="19018260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E30EF-574F-48AC-A193-9E614EA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47790-180A-4F9D-A52C-0BD2CD04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5A271-1846-4BBD-A76F-1B95386A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17623-80FE-4750-A0E1-9E6D74E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4BB3D-0FA6-40FA-9570-69DD91B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5CAF2-286A-4FDC-BC62-3DFE2050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16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8AF13-4403-4321-895B-06B0AFEE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Pocketbooks and the Occurrence 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E0319-ECEE-4057-B0FE-32D1C3A8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8C7A4-C807-496E-98CC-5B8C7AC3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B3B4C-DCBD-41AB-BEFB-42A642AB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Record entries promptly in ink and keep them neat and chronological.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Answer what, who, when, where, why and how.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Do not remove pages, erase entries or use unexplained alterations.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Record messages, instructions, incidents, property, arrests and irregularities.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30C0A-7D41-4135-9EE2-344E6F4E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AF8FC-05AD-449B-9E59-FDB16E88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At 22:15 you find a broken perimeter light and notify control. Draft an objective pocketbook entry.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E8202-062E-4399-8055-16DBFD5B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C8826-ED62-4852-AF9E-E452288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Maintain pocketbook and occurrence-book entries accurately.</a:t>
            </a:r>
          </a:p>
        </p:txBody>
      </p:sp>
    </p:spTree>
    <p:extLst>
      <p:ext uri="{BB962C8B-B14F-4D97-AF65-F5344CB8AC3E}">
        <p14:creationId xmlns:p14="http://schemas.microsoft.com/office/powerpoint/2010/main" val="3304299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680B0-8CA4-40FC-AA3E-F7FD3E00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310C0-3611-4E04-B3AE-DBBD9C4E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E81BD-4B1C-4378-B047-CC98C77F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FFF4C-F01D-4444-9523-278503D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E117A-1E94-42E7-9974-3ED8DB3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15742-28BF-4352-A8A6-AD2028DF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17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6B9D7-47AB-4312-89DA-DC813460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Written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6338B-BA9C-44EE-9E21-0FF5FCE6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1D64A-B273-4135-B3BD-CE361651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4EA55-6E2B-4BE8-9CAE-79A73B95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A good report is accurate, concise, complete, objective, descriptive and honest.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Use a clear heading and present facts in chronological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Use numbered block paragraphs and helpful subheadings when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Distinguish factual body content from comment or recommendation.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70311-F43E-4CF1-B837-0007B740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3C782-D1F1-4ED1-9264-2AEDF1D0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Using facilitator-provided facts about a gate incident, write a short chronological report and remove unsupported opinion.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91032-8FD2-4D30-9551-B864F6C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766FE-3E82-4A39-83D5-59DF9FEB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Write accurate, concise, complete and objective reports.</a:t>
            </a:r>
          </a:p>
        </p:txBody>
      </p:sp>
    </p:spTree>
    <p:extLst>
      <p:ext uri="{BB962C8B-B14F-4D97-AF65-F5344CB8AC3E}">
        <p14:creationId xmlns:p14="http://schemas.microsoft.com/office/powerpoint/2010/main" val="202621086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1DCAF-CF8D-4023-8646-7DB62614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CBB3A-9B20-4D5B-B1FD-C1D953BE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7A63D-5F0A-4024-A2D4-5A441F86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MODULE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61F54-6F31-47E9-A4F5-A579F6EB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EE500-E79A-4396-A09E-AC402CF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0309D-E432-4E39-A08B-C2BE4870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1B28"/>
                </a:solidFill>
              </a:defRPr>
            </a:pPr>
            <a:r>
              <a:rPr sz="1200" b="1">
                <a:solidFill>
                  <a:srgbClr val="F51B28"/>
                </a:solidFill>
              </a:rPr>
              <a:t>MODULE 18  •  90 MINUTES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0EF9D-4BCF-4B8F-B798-2FA5F8F1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B45"/>
                </a:solidFill>
              </a:defRPr>
            </a:pPr>
            <a:r>
              <a:rPr sz="2700" b="1">
                <a:solidFill>
                  <a:srgbClr val="121B45"/>
                </a:solidFill>
              </a:rPr>
              <a:t>The Threat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8D6E2-6CE5-470B-92F7-18DEC93E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8580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C3DF4-41D1-4CF9-8DC7-53550096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1B28"/>
                </a:solidFill>
              </a:defRPr>
            </a:pPr>
            <a:r>
              <a:rPr sz="1350" b="1">
                <a:solidFill>
                  <a:srgbClr val="F51B28"/>
                </a:solidFill>
              </a:rPr>
              <a:t>TEACH THE ESSENTIALS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A108C-F209-45BC-BE42-1A771053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Threat level depends on factors such as time, place and the organisation’s product or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Internal threats arise from authorised insiders; external threats arise from unauthorised outsiders or visitors.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02637"/>
                </a:solidFill>
              </a:defRPr>
            </a:pPr>
            <a:r>
              <a:rPr sz="1425" b="0">
                <a:solidFill>
                  <a:srgbClr val="202637"/>
                </a:solidFill>
              </a:rPr>
              <a:t>• Threats include theft, fraud, robbery, sabotage, intimidation, espionage and malicious damage.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3D1B0-BD21-4422-B458-BED90D8E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A8F57-5F23-462A-9348-7DCC7EE8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048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2637"/>
                </a:solidFill>
              </a:defRPr>
            </a:pPr>
            <a:r>
              <a:rPr sz="1500" b="0">
                <a:solidFill>
                  <a:srgbClr val="202637"/>
                </a:solidFill>
              </a:rPr>
              <a:t>An employee shares restricted information with an unauthorised person. Explain how to protect information, evidence and people.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543DD-AED9-4A67-8B03-2665FC3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B45"/>
                </a:solidFill>
              </a:defRPr>
            </a:pPr>
            <a:r>
              <a:rPr sz="1350" b="1">
                <a:solidFill>
                  <a:srgbClr val="121B45"/>
                </a:solidFill>
              </a:rPr>
              <a:t>Evidence to listen for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9097F-0A95-4767-9409-03BDAA06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387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7"/>
                </a:solidFill>
              </a:defRPr>
            </a:pPr>
            <a:r>
              <a:rPr sz="1275" b="0">
                <a:solidFill>
                  <a:srgbClr val="657087"/>
                </a:solidFill>
              </a:rPr>
              <a:t>Differentiate internal and external threats.</a:t>
            </a:r>
          </a:p>
        </p:txBody>
      </p:sp>
    </p:spTree>
    <p:extLst>
      <p:ext uri="{BB962C8B-B14F-4D97-AF65-F5344CB8AC3E}">
        <p14:creationId xmlns:p14="http://schemas.microsoft.com/office/powerpoint/2010/main" val="12526636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8B323-0D99-4C39-9AB6-284F1937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D1425-073E-4604-957B-CDBB2AC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MUPO TRAINING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90928-38E9-4AB1-BA91-8B44738A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57087"/>
                </a:solidFill>
              </a:defRPr>
            </a:pPr>
            <a:r>
              <a:rPr sz="900" b="1">
                <a:solidFill>
                  <a:srgbClr val="657087"/>
                </a:solidFill>
              </a:rPr>
              <a:t>INTEGRATED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F6B16-A3A1-4374-8B28-6D6C9DA8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46E09-EBEE-4BBE-BCF0-08AE159D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087"/>
                </a:solidFill>
              </a:defRPr>
            </a:pPr>
            <a:r>
              <a:rPr sz="825" b="1">
                <a:solidFill>
                  <a:srgbClr val="657087"/>
                </a:solidFill>
              </a:rPr>
              <a:t>GRADE E, D &amp; C  |  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BDFFD-4C42-41AE-BD86-689CFE1B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B45"/>
                </a:solidFill>
              </a:defRPr>
            </a:pPr>
            <a:r>
              <a:rPr sz="2850" b="1">
                <a:solidFill>
                  <a:srgbClr val="121B45"/>
                </a:solidFill>
              </a:rPr>
              <a:t>Strong responses follow four priorities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A0029-0AC6-4F10-BABA-CD7D8383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266950" cy="27051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0077C-6781-4756-BB6C-F38ECF5B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1D23C-1CB7-4A8F-AEFB-F6E7F418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5646B-15C5-4B10-AC25-D35E6992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790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Pause unsafe action and assess from a safe position.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1B98B-F467-456F-A684-E9AEC2E6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266950" cy="27051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21B45"/>
          </a:solidFill>
          <a:ln xmlns:a="http://schemas.openxmlformats.org/drawingml/2006/main" w="0">
            <a:solidFill>
              <a:srgbClr val="121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DA9A5-E0D9-4020-8AEB-2B789A95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72613-974E-4856-BD4B-175ADAF5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38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72208-9B5A-418A-90DE-3B40A11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0900"/>
            <a:ext cx="1790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Protect life, dignity, access and possible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1033F-4E0F-46B4-A897-D2961DE1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2266950" cy="27051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33676-E157-4E13-89BF-024B318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2198C7-3EB1-4AA3-912A-145F4EDE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NOTIFY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A423F-0A18-46BC-AD65-303625A9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1790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Use the authorised chain, emergency plan or police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9A2DD-5BFB-4946-A8DA-12222775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266950" cy="27051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21B45"/>
          </a:solidFill>
          <a:ln xmlns:a="http://schemas.openxmlformats.org/drawingml/2006/main" w="0">
            <a:solidFill>
              <a:srgbClr val="121B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9471E-A25E-42B0-8997-10C2DD8C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288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893FE-0069-4B2E-B53D-9306245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5AC4B-3D73-47BE-9B72-F327A890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1790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Capture facts, times, persons informed, actions and outcome.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AB5A7-9696-4CC0-A8EC-C112AD5D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637"/>
                </a:solidFill>
              </a:defRPr>
            </a:pPr>
            <a:r>
              <a:rPr sz="1650" b="1">
                <a:solidFill>
                  <a:srgbClr val="202637"/>
                </a:solidFill>
              </a:rPr>
              <a:t>Practice prompt: A contractor dispute occurs while a suspicious bag is reported near the entrance. What happens first—and why?</a:t>
            </a:r>
          </a:p>
        </p:txBody>
      </p:sp>
    </p:spTree>
    <p:extLst>
      <p:ext uri="{BB962C8B-B14F-4D97-AF65-F5344CB8AC3E}">
        <p14:creationId xmlns:p14="http://schemas.microsoft.com/office/powerpoint/2010/main" val="20505488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21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F043F-661C-4310-9D40-03B7B084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1B28"/>
          </a:solidFill>
          <a:ln xmlns:a="http://schemas.openxmlformats.org/drawingml/2006/main" w="0">
            <a:solidFill>
              <a:srgbClr val="F51B2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a4ac92f1f4087"/>
          <a:stretch xmlns:a="http://schemas.openxmlformats.org/drawingml/2006/main"/>
        </p:blipFill>
        <p:spPr>
          <a:xfrm xmlns:a="http://schemas.openxmlformats.org/drawingml/2006/main">
            <a:off x="850054" y="514350"/>
            <a:ext cx="2852842" cy="95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67BF8-E9F6-47AD-81F7-0E222F2E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Assessment evidence must show more than recall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A90D3-BD22-4A1E-9BF7-3C4C9FEF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9C82F-42E8-49B2-82A4-E702FD9B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The learner can explain the rule.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EEE36-FAC0-4974-8DB4-F94396FD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B67C6-73C1-4BCF-9D5B-F473484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67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The learner can choose and justify safe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4147F-6279-46E8-916B-938F510A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PRACTICAL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DD863-6DED-4AB7-AD79-02B29F32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3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The learner can demonstrate the required behaviour.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6F360-55A1-412C-96BA-008FCEF6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1B28"/>
                </a:solidFill>
              </a:defRPr>
            </a:pPr>
            <a:r>
              <a:rPr sz="1500" b="1">
                <a:solidFill>
                  <a:srgbClr val="F51B28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75142-D42D-4BEA-8BDE-B7DDFA9C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The result, feedback and sign-off are retained.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56EC2-CC76-4D77-8A9A-2F1BAF85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Use the current provider-approved assessment and moderation process.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7028B-9CB6-4DF9-801F-1E5FF9FF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912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1B28"/>
                </a:solidFill>
              </a:defRPr>
            </a:pPr>
            <a:r>
              <a:rPr sz="1275" b="1">
                <a:solidFill>
                  <a:srgbClr val="F51B28"/>
                </a:solidFill>
              </a:rPr>
              <a:t>SAFE  •  LAWFUL  •  PROFESSIONAL</a:t>
            </a:r>
          </a:p>
        </p:txBody>
      </p:sp>
    </p:spTree>
    <p:extLst>
      <p:ext uri="{BB962C8B-B14F-4D97-AF65-F5344CB8AC3E}">
        <p14:creationId xmlns:p14="http://schemas.microsoft.com/office/powerpoint/2010/main" val="988266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2026-08-18T12:29:42.1750000Z</dcterms:created>
  <dcterms:modified xsi:type="dcterms:W3CDTF">2026-08-18T12:29:42.1750000Z</dcterms:modified>
</coreProperties>
</file>